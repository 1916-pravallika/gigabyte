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477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in jury Q&amp;A: the architecture is integrated by design, while production-grade data and field validation are the next engineering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PRESENTATION  · 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AgriGuard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CC2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Crop-to-Cash AI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design, AI/ML implementation and the end-to-end farmer workflow.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•  CROP HEALTH  •  MARKET ACCESS  •  NET RETURN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01000" y="1234440"/>
            <a:ext cx="3639312" cy="4343400"/>
          </a:xfrm>
          <a:prstGeom prst="roundRect">
            <a:avLst>
              <a:gd name="adj" fmla="val 6281"/>
            </a:avLst>
          </a:prstGeom>
          <a:solidFill>
            <a:srgbClr val="17402F"/>
          </a:solidFill>
          <a:ln/>
        </p:spPr>
      </p:sp>
      <p:sp>
        <p:nvSpPr>
          <p:cNvPr id="8" name="Shape 6"/>
          <p:cNvSpPr/>
          <p:nvPr/>
        </p:nvSpPr>
        <p:spPr>
          <a:xfrm>
            <a:off x="8366760" y="1554480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168615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366760" y="2340864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8434" y="2472538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0" y="23408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366760" y="3127248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34" y="325892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3127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8366760" y="3913632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434" y="4045306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44000" y="3913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8366760" y="4700016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8434" y="4831690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44000" y="47000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mapped to the build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farmer journey covers every requested functional area.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12264"/>
            <a:ext cx="493776" cy="493776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26" y="2230770"/>
            <a:ext cx="256764" cy="2567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01168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&amp; pest detection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2011680"/>
            <a:ext cx="56080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/ camera flow, disease class, confidence and severity display.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935224"/>
            <a:ext cx="493776" cy="493776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26" y="3053730"/>
            <a:ext cx="256764" cy="2567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83464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guidance &amp; multilingual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2834640"/>
            <a:ext cx="56080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page, English / Telugu localization and speech playback.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758184"/>
            <a:ext cx="493776" cy="493776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26" y="3876690"/>
            <a:ext cx="256764" cy="2567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365760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Buyer, FPO &amp; market price connection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806440" y="3657600"/>
            <a:ext cx="56080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cards, price trend, buyer offers, FPO listings and contact actions.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4805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4581144"/>
            <a:ext cx="493776" cy="493776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26" y="4699650"/>
            <a:ext cx="256764" cy="2567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448056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storage, logistics &amp; low connectivity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806440" y="4480560"/>
            <a:ext cx="56080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storage view, transport selection, offline status, IndexedDB persistence.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530352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5404104"/>
            <a:ext cx="493776" cy="493776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026" y="5522610"/>
            <a:ext cx="256764" cy="25676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63040" y="530352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integrated application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806440" y="5303520"/>
            <a:ext cx="56080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links every stage into one flow ending in profit comparison and sale confirmation.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56591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stays separate from business logic, so each layer can evolve on its own.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30704" cy="3017520"/>
          </a:xfrm>
          <a:prstGeom prst="roundRect">
            <a:avLst>
              <a:gd name="adj" fmla="val 52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237634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40280"/>
            <a:ext cx="1424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app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017520"/>
            <a:ext cx="1973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Telugu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playback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360" y="333756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36544" y="2011680"/>
            <a:ext cx="2430704" cy="3017520"/>
          </a:xfrm>
          <a:prstGeom prst="roundRect">
            <a:avLst>
              <a:gd name="adj" fmla="val 52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65144" y="224028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1207" y="237634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50944" y="2240280"/>
            <a:ext cx="1424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API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3692576" y="3017520"/>
            <a:ext cx="1973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64" y="333756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24448" y="2011680"/>
            <a:ext cx="2430704" cy="3017520"/>
          </a:xfrm>
          <a:prstGeom prst="roundRect">
            <a:avLst>
              <a:gd name="adj" fmla="val 52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553048" y="224028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9110" y="2376343"/>
            <a:ext cx="294803" cy="29480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238848" y="2240280"/>
            <a:ext cx="1424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6580480" y="3017520"/>
            <a:ext cx="1973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torchvision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</a:t>
            </a:r>
            <a:r>
              <a:rPr lang="en-US" sz="1500" dirty="0" err="1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confidence+severity</a:t>
            </a:r>
            <a:endParaRPr lang="en-US" sz="15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167" y="333756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212351" y="2011680"/>
            <a:ext cx="2430704" cy="3017520"/>
          </a:xfrm>
          <a:prstGeom prst="roundRect">
            <a:avLst>
              <a:gd name="adj" fmla="val 52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440951" y="2240280"/>
            <a:ext cx="566928" cy="56692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014" y="2376343"/>
            <a:ext cx="294803" cy="294803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0126751" y="2240280"/>
            <a:ext cx="1424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services</a:t>
            </a:r>
            <a:endParaRPr lang="en-US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9468383" y="3017520"/>
            <a:ext cx="1973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H2 config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/ buyer / FPO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logistics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records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6471"/>
            </a:avLst>
          </a:prstGeom>
          <a:solidFill>
            <a:srgbClr val="0E2A20"/>
          </a:solidFill>
          <a:ln/>
        </p:spPr>
      </p:sp>
      <p:sp>
        <p:nvSpPr>
          <p:cNvPr id="29" name="Text 20"/>
          <p:cNvSpPr txBox="1"/>
          <p:nvPr/>
        </p:nvSpPr>
        <p:spPr>
          <a:xfrm>
            <a:off x="868680" y="5349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flow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2377440" y="5349240"/>
            <a:ext cx="8991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→  Spring Boot  →  AI service  →  Spring Boot  →  database  →  React</a:t>
            </a:r>
            <a:endParaRPr lang="en-US" sz="170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classification model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gives a compact tomato-disease classifier that is light enough for a prototype API.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8479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2121408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tomato classes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157" y="2743200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26045" y="1965960"/>
            <a:ext cx="198479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027213" y="2121408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027213" y="251460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resize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+ rotation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normalization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561" y="274320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03449" y="1965960"/>
            <a:ext cx="198479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5304617" y="2121408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304617" y="251460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966" y="2743200"/>
            <a:ext cx="201168" cy="201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80854" y="1965960"/>
            <a:ext cx="198479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582022" y="2121408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582022" y="251460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0.0001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16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371" y="2743200"/>
            <a:ext cx="201168" cy="20116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658259" y="1965960"/>
            <a:ext cx="1984797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9859427" y="2121408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859427" y="2514600"/>
            <a:ext cx="161903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4114800"/>
            <a:ext cx="2567864" cy="1417320"/>
          </a:xfrm>
          <a:prstGeom prst="roundRect">
            <a:avLst>
              <a:gd name="adj" fmla="val 9032"/>
            </a:avLst>
          </a:prstGeom>
          <a:solidFill>
            <a:srgbClr val="0E2A20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48640" y="4224528"/>
            <a:ext cx="256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87.59%</a:t>
            </a:r>
            <a:endParaRPr lang="en-US" sz="40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02920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3390824" y="4114800"/>
            <a:ext cx="2567864" cy="1417320"/>
          </a:xfrm>
          <a:prstGeom prst="roundRect">
            <a:avLst>
              <a:gd name="adj" fmla="val 9032"/>
            </a:avLst>
          </a:prstGeom>
          <a:solidFill>
            <a:srgbClr val="0E2A20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3390824" y="4224528"/>
            <a:ext cx="256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98.32%</a:t>
            </a:r>
            <a:endParaRPr lang="en-US" sz="4000" dirty="0"/>
          </a:p>
        </p:txBody>
      </p:sp>
      <p:sp>
        <p:nvSpPr>
          <p:cNvPr id="29" name="Text 23"/>
          <p:cNvSpPr txBox="1"/>
          <p:nvPr/>
        </p:nvSpPr>
        <p:spPr>
          <a:xfrm>
            <a:off x="3390824" y="502920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233008" y="4114800"/>
            <a:ext cx="2567864" cy="1417320"/>
          </a:xfrm>
          <a:prstGeom prst="roundRect">
            <a:avLst>
              <a:gd name="adj" fmla="val 9032"/>
            </a:avLst>
          </a:prstGeom>
          <a:solidFill>
            <a:srgbClr val="0E2A20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6233008" y="4224528"/>
            <a:ext cx="256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0.0605</a:t>
            </a:r>
            <a:endParaRPr lang="en-US" sz="4000" dirty="0"/>
          </a:p>
        </p:txBody>
      </p:sp>
      <p:sp>
        <p:nvSpPr>
          <p:cNvPr id="32" name="Text 26"/>
          <p:cNvSpPr txBox="1"/>
          <p:nvPr/>
        </p:nvSpPr>
        <p:spPr>
          <a:xfrm>
            <a:off x="6233008" y="502920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9075191" y="4114800"/>
            <a:ext cx="2567864" cy="1417320"/>
          </a:xfrm>
          <a:prstGeom prst="roundRect">
            <a:avLst>
              <a:gd name="adj" fmla="val 9032"/>
            </a:avLst>
          </a:prstGeom>
          <a:solidFill>
            <a:srgbClr val="0E2A20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9075191" y="4224528"/>
            <a:ext cx="256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98.80%</a:t>
            </a:r>
            <a:endParaRPr lang="en-US" sz="4000" dirty="0"/>
          </a:p>
        </p:txBody>
      </p:sp>
      <p:sp>
        <p:nvSpPr>
          <p:cNvPr id="35" name="Text 29"/>
          <p:cNvSpPr txBox="1"/>
          <p:nvPr/>
        </p:nvSpPr>
        <p:spPr>
          <a:xfrm>
            <a:off x="9075191" y="502920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test-image confidence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training run: 1 epoch  ·  DataLoader workers = 0 for Windows-friendly execution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farmer decision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one component; the application adds decision rules around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41098" y="2843784"/>
            <a:ext cx="9509499" cy="0"/>
          </a:xfrm>
          <a:prstGeom prst="line">
            <a:avLst/>
          </a:prstGeom>
          <a:noFill/>
          <a:ln w="31750">
            <a:solidFill>
              <a:srgbClr val="235A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1914" y="251460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1914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42900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402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96831" y="251460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6831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179276" y="342900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24996" y="3840480"/>
            <a:ext cx="1402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probability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81747" y="251460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81747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64193" y="342900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09913" y="3840480"/>
            <a:ext cx="1402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Affected-area heuristic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6664" y="251460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66664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349109" y="342900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94829" y="3840480"/>
            <a:ext cx="1402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knowledge 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51580" y="251460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5158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934026" y="342900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79746" y="3840480"/>
            <a:ext cx="1402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+ severity range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36497" y="251460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36497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518942" y="342900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564662" y="3840480"/>
            <a:ext cx="1402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+ maturity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521413" y="251460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21413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0103859" y="342900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149579" y="3840480"/>
            <a:ext cx="1402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+ storage + transport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14000"/>
            </a:avLst>
          </a:prstGeom>
          <a:solidFill>
            <a:srgbClr val="17402F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431536"/>
            <a:ext cx="201168" cy="201168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554480" y="5074920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and sale-readiness outputs are estimates and rules in this prototype, not guaranteed agronomic or price predictions.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Farmer-facing product flow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and focused pages replace one complicated form.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96669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21408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15184"/>
            <a:ext cx="1422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26080"/>
            <a:ext cx="1422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8189" y="1965960"/>
            <a:ext cx="1696669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11069" y="2121408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11069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11069" y="2615184"/>
            <a:ext cx="1422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11069" y="2926080"/>
            <a:ext cx="1422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camera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07738" y="1965960"/>
            <a:ext cx="1696669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90618" y="2121408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9061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90618" y="2615184"/>
            <a:ext cx="1422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90618" y="2926080"/>
            <a:ext cx="1422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treatment, recovery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87288" y="1965960"/>
            <a:ext cx="1696669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70168" y="2121408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7016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70168" y="2615184"/>
            <a:ext cx="1422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70168" y="2926080"/>
            <a:ext cx="1422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buyers, FPO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66837" y="1965960"/>
            <a:ext cx="1696669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49717" y="2121408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49717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49717" y="2615184"/>
            <a:ext cx="1422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249717" y="2926080"/>
            <a:ext cx="1422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logistics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946386" y="1965960"/>
            <a:ext cx="1696669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29266" y="2121408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29266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129266" y="2615184"/>
            <a:ext cx="1422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129266" y="2926080"/>
            <a:ext cx="1422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Profit, sale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749040"/>
            <a:ext cx="11094415" cy="2377440"/>
          </a:xfrm>
          <a:prstGeom prst="roundRect">
            <a:avLst>
              <a:gd name="adj" fmla="val 5385"/>
            </a:avLst>
          </a:prstGeom>
          <a:solidFill>
            <a:srgbClr val="0E2A2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CHOICES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434340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6.1 + Tailwind CSS 4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protected farmer routes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/ react-i18next for English + Telugu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for market and profit visuals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/ React-Leaflet for location views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4343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 client with environment-based backend URL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 IndexedDB for offline local records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SpeechSynthesis API for English / Telugu read-aloud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mobile-first cards, bottom navigation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domain model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models the crop lifecycle as persistent business objects.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194560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51760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language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07757" y="2011680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08925" y="2194560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08925" y="2651760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+ status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66873" y="2011680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68041" y="2194560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68041" y="2651760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Disease, confidence, severity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25990" y="2011680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27158" y="2194560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527158" y="2651760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Step-based guidance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85107" y="2011680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86275" y="2194560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786275" y="2651760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+ sale-ready window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675888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133088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demand, distance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07757" y="3493008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08925" y="3675888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/ FPO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3008925" y="4133088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Offer, quantity, location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66873" y="3493008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68041" y="3675888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68041" y="4133088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cost, distance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25990" y="3493008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27158" y="3675888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527158" y="4133088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rate, est. cost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85107" y="3493008"/>
            <a:ext cx="2057949" cy="1280160"/>
          </a:xfrm>
          <a:prstGeom prst="roundRect">
            <a:avLst>
              <a:gd name="adj" fmla="val 10000"/>
            </a:avLst>
          </a:prstGeom>
          <a:solidFill>
            <a:srgbClr val="1740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786275" y="3675888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786275" y="4133088"/>
            <a:ext cx="1692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costs, net return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1820753" cy="384048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5440680"/>
            <a:ext cx="1820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3.2.3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506553" y="5440680"/>
            <a:ext cx="964875" cy="384048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506553" y="5440680"/>
            <a:ext cx="964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08588" y="5440680"/>
            <a:ext cx="1221638" cy="384048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608588" y="5440680"/>
            <a:ext cx="12216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967387" y="5440680"/>
            <a:ext cx="1649578" cy="384048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967387" y="5440680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754124" y="5440680"/>
            <a:ext cx="1221638" cy="384048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754124" y="5440680"/>
            <a:ext cx="12216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112923" y="5440680"/>
            <a:ext cx="1649578" cy="384048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112923" y="5440680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connector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899660" y="5440680"/>
            <a:ext cx="1820753" cy="384048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899660" y="5440680"/>
            <a:ext cx="1820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(test runtime)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→ SALE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Post-harvest decision support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discovery, buyers, storage and transport come together in one financial comparison.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1" y="2339401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8328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markets, price per kg, demand and a 7-day trend.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90824" y="1965960"/>
            <a:ext cx="256786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265" y="233940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9424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/ FPO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338328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price, required quantity, distance, pickup and contact details.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33008" y="1965960"/>
            <a:ext cx="256786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449" y="233940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61608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338328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view, distance, rate, capacity and crop suitability.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75191" y="1965960"/>
            <a:ext cx="256786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632" y="2339401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03791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3383280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capacity, base + per-km rate and estimated transport cost.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11094415" cy="1051560"/>
          </a:xfrm>
          <a:prstGeom prst="roundRect">
            <a:avLst>
              <a:gd name="adj" fmla="val 12174"/>
            </a:avLst>
          </a:prstGeom>
          <a:solidFill>
            <a:srgbClr val="0E2A2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914400" y="457200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 −  storage cost  −  transport cost  −  other costs  =  </a:t>
            </a:r>
            <a:r>
              <a:rPr lang="en-US" sz="22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net return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data in the UI should be replaced with verified live feeds before real-world deployment.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Language, voice and weak connectivity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farmer input, maximum application context.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5258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12848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66467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017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+ English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74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resources with a language selector. Speech uses te-IN / en-IN where the device supports 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8218" y="1965960"/>
            <a:ext cx="3515258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2538" y="2212848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158" y="236646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2538" y="3017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Voice-friendly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3474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Read-aloud buttons today. Next layer: speech-to-text intent routing for farmer questions and actions.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27797" y="1965960"/>
            <a:ext cx="3515258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02117" y="2212848"/>
            <a:ext cx="640080" cy="64008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736" y="2366467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2117" y="3017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continuity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402117" y="34747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navigator.onLine detects state; Dexie / IndexedDB stores crop, diagnosis, sale and queue records locally.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10769"/>
            </a:avLst>
          </a:prstGeom>
          <a:solidFill>
            <a:srgbClr val="0E2A20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1440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" y="544068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make the farmer maintain a complex status log. Use automatic data, one-tap confirmation and voice for facts the system cannot know.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technical data flow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crop context is carried through the whole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42041" y="2432304"/>
            <a:ext cx="9707613" cy="0"/>
          </a:xfrm>
          <a:prstGeom prst="line">
            <a:avLst/>
          </a:prstGeom>
          <a:noFill/>
          <a:ln w="31750">
            <a:solidFill>
              <a:srgbClr val="D3E2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2857" y="2103120"/>
            <a:ext cx="658368" cy="65836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5" y="2261128"/>
            <a:ext cx="342351" cy="3423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6072" y="2971800"/>
            <a:ext cx="133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310128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crop details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99659" y="2103120"/>
            <a:ext cx="658368" cy="65836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667" y="226112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2874" y="2971800"/>
            <a:ext cx="133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008594" y="3310128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FormData upload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86461" y="2103120"/>
            <a:ext cx="658368" cy="65836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469" y="226112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49676" y="2971800"/>
            <a:ext cx="133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395396" y="3310128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API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73263" y="2103120"/>
            <a:ext cx="658368" cy="65836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1271" y="2261128"/>
            <a:ext cx="342351" cy="34235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36478" y="2971800"/>
            <a:ext cx="133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4782198" y="3310128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60065" y="2103120"/>
            <a:ext cx="658368" cy="658368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8073" y="2261128"/>
            <a:ext cx="342351" cy="34235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123280" y="2971800"/>
            <a:ext cx="133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169000" y="3310128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diagnosis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846866" y="210312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4875" y="2261128"/>
            <a:ext cx="342351" cy="34235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510082" y="2971800"/>
            <a:ext cx="133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7555802" y="3310128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Treatment, recovery, readiness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9233668" y="210312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1677" y="2261128"/>
            <a:ext cx="342351" cy="342351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896883" y="2971800"/>
            <a:ext cx="133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layer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8942603" y="3310128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buyer, storage, logistics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10620470" y="2103120"/>
            <a:ext cx="658368" cy="658368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8479" y="2261128"/>
            <a:ext cx="342351" cy="342351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0283685" y="2971800"/>
            <a:ext cx="1331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400" dirty="0"/>
          </a:p>
        </p:txBody>
      </p:sp>
      <p:sp>
        <p:nvSpPr>
          <p:cNvPr id="37" name="Text 27"/>
          <p:cNvSpPr txBox="1"/>
          <p:nvPr/>
        </p:nvSpPr>
        <p:spPr>
          <a:xfrm>
            <a:off x="10329405" y="3310128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return + confirmation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548640" y="4526280"/>
            <a:ext cx="11094415" cy="1600200"/>
          </a:xfrm>
          <a:prstGeom prst="roundRect">
            <a:avLst>
              <a:gd name="adj" fmla="val 8000"/>
            </a:avLst>
          </a:prstGeom>
          <a:solidFill>
            <a:srgbClr val="0E2A20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9144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CONTRACT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914400" y="50749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CC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crop, disease, confidence, severity }</a:t>
            </a:r>
            <a:endParaRPr lang="en-US" sz="2000" dirty="0"/>
          </a:p>
        </p:txBody>
      </p:sp>
      <p:sp>
        <p:nvSpPr>
          <p:cNvPr id="41" name="Text 31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by the application with treatment, recovery and sale-readiness before it reaches the farmer.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Validation, limitations and next test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proves the technical path; field validation is the next step.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786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993392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87.59%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824" y="1920240"/>
            <a:ext cx="256786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90824" y="1993392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98.32%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390824" y="269748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1920240"/>
            <a:ext cx="256786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33008" y="1993392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0.0605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269748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75191" y="1920240"/>
            <a:ext cx="256786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75191" y="1993392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98.80%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075191" y="269748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prediction confidence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15258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70332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3839108"/>
            <a:ext cx="231343" cy="23134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08760" y="370332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validated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43484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trains, validates and produces class predictions. The product flow carries a diagnosis through every downstream decision screen.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338218" y="3474720"/>
            <a:ext cx="3515258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12538" y="3703320"/>
            <a:ext cx="502920" cy="50292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327" y="3839108"/>
            <a:ext cx="231343" cy="231343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98338" y="370332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612538" y="443484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validation does not establish field performance. Recovery ranges and demo market data are not live agronomic or market guarantees.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8127797" y="3474720"/>
            <a:ext cx="3515258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402117" y="3703320"/>
            <a:ext cx="502920" cy="502920"/>
          </a:xfrm>
          <a:prstGeom prst="ellipse">
            <a:avLst/>
          </a:prstGeom>
          <a:solidFill>
            <a:srgbClr val="0E2A20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905" y="3839108"/>
            <a:ext cx="231343" cy="231343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87917" y="3703320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test</a:t>
            </a:r>
            <a:endParaRPr lang="en-US" sz="1700" dirty="0"/>
          </a:p>
        </p:txBody>
      </p:sp>
      <p:sp>
        <p:nvSpPr>
          <p:cNvPr id="31" name="Text 26"/>
          <p:cNvSpPr txBox="1"/>
          <p:nvPr/>
        </p:nvSpPr>
        <p:spPr>
          <a:xfrm>
            <a:off x="8402117" y="4434840"/>
            <a:ext cx="296661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field smartphone images, build a held-out real-world test set, validate severity and recovery with experts, and swap demo feeds for verified APIs.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today vs. production integration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integrated by design; production data and field validation come next.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10048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2284628"/>
            <a:ext cx="231343" cy="2313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1488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/ implemented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training + validation pipeline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+ class mapping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prediction test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treatment, recovery, readiness logic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farmer journey pages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Telugu localization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read-aloud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state + IndexedDB persistence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buyer, FPO, storage, logistics, profit, sale screens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33008" y="1965960"/>
            <a:ext cx="5410048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7328" y="2148840"/>
            <a:ext cx="502920" cy="50292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228462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93128" y="21488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finish / harden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553048" y="2880360"/>
            <a:ext cx="47699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demo diagnosis timeout / mock with the live FastAPI call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Spring Boot diagnosis endpoint to the AI service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live workflow data through backend and database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demo market, buyer and storage values with verified sources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speech-to-text intent routing for true voice commands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Field-test AI and agronomic outputs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3-minute demo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one farmer story from photo to sale instead of opening features one by one.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want to know what is happening to my tomato crop.”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42041" y="3547872"/>
            <a:ext cx="9707613" cy="0"/>
          </a:xfrm>
          <a:prstGeom prst="line">
            <a:avLst/>
          </a:prstGeom>
          <a:noFill/>
          <a:ln w="31750">
            <a:solidFill>
              <a:srgbClr val="235A4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1386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31729" y="3337560"/>
            <a:ext cx="420624" cy="420624"/>
          </a:xfrm>
          <a:prstGeom prst="ellipse">
            <a:avLst/>
          </a:prstGeom>
          <a:solidFill>
            <a:srgbClr val="6CC2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31729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4023360"/>
            <a:ext cx="1331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4553712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farmer story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935442" y="2834640"/>
            <a:ext cx="1386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18531" y="3337560"/>
            <a:ext cx="420624" cy="420624"/>
          </a:xfrm>
          <a:prstGeom prst="ellipse">
            <a:avLst/>
          </a:prstGeom>
          <a:solidFill>
            <a:srgbClr val="6CC2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18531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62874" y="4023360"/>
            <a:ext cx="1331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photo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008594" y="4553712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 → diagnosis, confidence, severity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322244" y="2834640"/>
            <a:ext cx="1386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805333" y="3337560"/>
            <a:ext cx="420624" cy="420624"/>
          </a:xfrm>
          <a:prstGeom prst="ellipse">
            <a:avLst/>
          </a:prstGeom>
          <a:solidFill>
            <a:srgbClr val="6CC2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805333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349676" y="4023360"/>
            <a:ext cx="1331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95396" y="4553712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next steps in English / Telugu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709046" y="2834640"/>
            <a:ext cx="1386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192135" y="3337560"/>
            <a:ext cx="420624" cy="420624"/>
          </a:xfrm>
          <a:prstGeom prst="ellipse">
            <a:avLst/>
          </a:prstGeom>
          <a:solidFill>
            <a:srgbClr val="6CC2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92135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36478" y="4023360"/>
            <a:ext cx="1331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782198" y="4553712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recovery and sale-ready window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095848" y="2834640"/>
            <a:ext cx="1386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578937" y="3337560"/>
            <a:ext cx="420624" cy="420624"/>
          </a:xfrm>
          <a:prstGeom prst="ellipse">
            <a:avLst/>
          </a:prstGeom>
          <a:solidFill>
            <a:srgbClr val="6CC2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78937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123280" y="4023360"/>
            <a:ext cx="1331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169000" y="4553712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markets, buyers, FPO offers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482650" y="2834640"/>
            <a:ext cx="1386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965738" y="3337560"/>
            <a:ext cx="420624" cy="420624"/>
          </a:xfrm>
          <a:prstGeom prst="ellipse">
            <a:avLst/>
          </a:prstGeom>
          <a:solidFill>
            <a:srgbClr val="6CC28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65738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510082" y="4023360"/>
            <a:ext cx="1331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logistics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555802" y="4553712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storage and transport costs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869451" y="2834640"/>
            <a:ext cx="1386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352540" y="3337560"/>
            <a:ext cx="420624" cy="420624"/>
          </a:xfrm>
          <a:prstGeom prst="ellipse">
            <a:avLst/>
          </a:prstGeom>
          <a:solidFill>
            <a:srgbClr val="6CC28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35254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896883" y="4023360"/>
            <a:ext cx="1331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942603" y="4553712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now vs. store and sell later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0256253" y="2834640"/>
            <a:ext cx="1386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2:50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739342" y="3337560"/>
            <a:ext cx="420624" cy="420624"/>
          </a:xfrm>
          <a:prstGeom prst="ellipse">
            <a:avLst/>
          </a:prstGeom>
          <a:solidFill>
            <a:srgbClr val="6CC28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739342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0283685" y="4023360"/>
            <a:ext cx="1331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329405" y="4553712"/>
            <a:ext cx="1240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request, show receipt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7500"/>
            </a:avLst>
          </a:prstGeom>
          <a:solidFill>
            <a:srgbClr val="17402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1440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not stop at naming the disease; it helps the farmer decide what to do with the crop next.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production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first: field accuracy, then live decisions, then ecosystem scale.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36003" cy="3383280"/>
          </a:xfrm>
          <a:prstGeom prst="roundRect">
            <a:avLst>
              <a:gd name="adj" fmla="val 6288"/>
            </a:avLst>
          </a:prstGeom>
          <a:solidFill>
            <a:srgbClr val="2E7D4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2A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 MVP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API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persistence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farmer 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13243" y="2011680"/>
            <a:ext cx="2036003" cy="338328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41843" y="22402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CEE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41843" y="22402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41843" y="274320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validation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041843" y="36576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smartphone images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validation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 review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77846" y="2011680"/>
            <a:ext cx="2036003" cy="338328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6446" y="22402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CEE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6446" y="22402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06446" y="274320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intelligence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06446" y="36576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market feeds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transport availability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42449" y="2011680"/>
            <a:ext cx="2036003" cy="338328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71049" y="22402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CEEE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71049" y="22402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571049" y="274320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+ scale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571049" y="36576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intents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crops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07052" y="2011680"/>
            <a:ext cx="2036003" cy="3383280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35652" y="22402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CEEE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35652" y="22402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835652" y="274320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835652" y="36576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 / buyer onboarding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services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IN ONE 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“Turn crop health information into a complete selling decision.”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6CC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— Crop-to-Cash AI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 • treatment • recovery • market access • storage • logistics • expected net return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120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525780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56816" y="5120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956816" y="5120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525780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64992" y="5120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364992" y="5120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5257800"/>
            <a:ext cx="182880" cy="182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773168" y="5120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773168" y="5120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5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525780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81344" y="5120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181344" y="5120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5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5257800"/>
            <a:ext cx="182880" cy="18288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589520" y="512064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7589520" y="5120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9539935" y="51206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B01E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9539935" y="5120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DEMO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SOLUTION PRESENTATION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1501</Words>
  <Application>Microsoft Office PowerPoint</Application>
  <PresentationFormat>Widescreen</PresentationFormat>
  <Paragraphs>366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AgriGuard — Solution Presentation</dc:title>
  <dc:subject>PptxGenJS Presentation</dc:subject>
  <dc:creator>AgriGuard</dc:creator>
  <cp:lastModifiedBy>SRIRAM PRAVALLIKA</cp:lastModifiedBy>
  <cp:revision>2</cp:revision>
  <dcterms:created xsi:type="dcterms:W3CDTF">2026-09-19T16:36:11Z</dcterms:created>
  <dcterms:modified xsi:type="dcterms:W3CDTF">2026-09-19T16:46:45Z</dcterms:modified>
</cp:coreProperties>
</file>