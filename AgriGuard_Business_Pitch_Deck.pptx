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PITCH  · 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74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AgriGuard</a:t>
            </a:r>
            <a:endParaRPr lang="en-US" sz="6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CC2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Crop-to-Cash AI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947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leaf photo to a better selling decision, in one farmer journey.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•  CROP HEALTH  •  MARKET ACCESS  •  NET RETURN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001000" y="1234440"/>
            <a:ext cx="3639312" cy="4343400"/>
          </a:xfrm>
          <a:prstGeom prst="roundRect">
            <a:avLst>
              <a:gd name="adj" fmla="val 6281"/>
            </a:avLst>
          </a:prstGeom>
          <a:solidFill>
            <a:srgbClr val="17402F"/>
          </a:solidFill>
          <a:ln/>
        </p:spPr>
      </p:sp>
      <p:sp>
        <p:nvSpPr>
          <p:cNvPr id="8" name="Shape 6"/>
          <p:cNvSpPr/>
          <p:nvPr/>
        </p:nvSpPr>
        <p:spPr>
          <a:xfrm>
            <a:off x="8366760" y="1554480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8434" y="168615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914400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366760" y="2340864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8434" y="2472538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0" y="234086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8366760" y="3127248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3258922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44000" y="312724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2000" dirty="0"/>
          </a:p>
        </p:txBody>
      </p:sp>
      <p:sp>
        <p:nvSpPr>
          <p:cNvPr id="17" name="Shape 12"/>
          <p:cNvSpPr/>
          <p:nvPr/>
        </p:nvSpPr>
        <p:spPr>
          <a:xfrm>
            <a:off x="8366760" y="3913632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8434" y="4045306"/>
            <a:ext cx="285293" cy="285293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44000" y="3913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2000" dirty="0"/>
          </a:p>
        </p:txBody>
      </p:sp>
      <p:sp>
        <p:nvSpPr>
          <p:cNvPr id="20" name="Shape 14"/>
          <p:cNvSpPr/>
          <p:nvPr/>
        </p:nvSpPr>
        <p:spPr>
          <a:xfrm>
            <a:off x="8366760" y="4700016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8434" y="4831690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144000" y="470001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farmer problem is not only disease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crop can be diagnosed correctly and still lose value before it reaches the market.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26974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23394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health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0156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identification and treatment are disconnected from the later selling decision.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390824" y="1965960"/>
            <a:ext cx="2567864" cy="26974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65" y="233940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9424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access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340156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need a simple view of market options, buyers and FPO opportunities for the same crop.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233008" y="1965960"/>
            <a:ext cx="2567864" cy="26974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449" y="233940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1608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Post-harvest friction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340156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and transport costs change the economics of where and when to sell.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075191" y="1965960"/>
            <a:ext cx="2567864" cy="2697480"/>
          </a:xfrm>
          <a:prstGeom prst="roundRect">
            <a:avLst>
              <a:gd name="adj" fmla="val 4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632" y="2339401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03791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 gap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3401568"/>
            <a:ext cx="2110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connectivity and language barriers make complex agricultural apps hard to use.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548640" y="5029200"/>
            <a:ext cx="11094415" cy="1097280"/>
          </a:xfrm>
          <a:prstGeom prst="roundRect">
            <a:avLst>
              <a:gd name="adj" fmla="val 11667"/>
            </a:avLst>
          </a:prstGeom>
          <a:solidFill>
            <a:srgbClr val="0E2A2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1440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914400" y="553212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tools solve one step. AgriGuard connects the crop-health decision to the post-harvest decision.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crop-to-cash decision layer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farmer starts with a photo and gets a connected path from diagnosis to sale.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3232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image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51844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11" name="Shape 9"/>
          <p:cNvSpPr/>
          <p:nvPr/>
        </p:nvSpPr>
        <p:spPr>
          <a:xfrm>
            <a:off x="2316436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316436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16436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16436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+ confidence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55049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16" name="Shape 14"/>
          <p:cNvSpPr/>
          <p:nvPr/>
        </p:nvSpPr>
        <p:spPr>
          <a:xfrm>
            <a:off x="3919641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919641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19641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919641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+ treatment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58253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21" name="Shape 19"/>
          <p:cNvSpPr/>
          <p:nvPr/>
        </p:nvSpPr>
        <p:spPr>
          <a:xfrm>
            <a:off x="5522845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522845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522845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522845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+ sale window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961458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26" name="Shape 24"/>
          <p:cNvSpPr/>
          <p:nvPr/>
        </p:nvSpPr>
        <p:spPr>
          <a:xfrm>
            <a:off x="7126050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126050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126050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126050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/ buyer / FPO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564662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31" name="Shape 29"/>
          <p:cNvSpPr/>
          <p:nvPr/>
        </p:nvSpPr>
        <p:spPr>
          <a:xfrm>
            <a:off x="8729254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729254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729254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729254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logistics + net return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10167867" y="2194560"/>
            <a:ext cx="1475188" cy="2011680"/>
          </a:xfrm>
          <a:prstGeom prst="roundRect">
            <a:avLst>
              <a:gd name="adj" fmla="val 8678"/>
            </a:avLst>
          </a:prstGeom>
          <a:solidFill>
            <a:srgbClr val="17402F"/>
          </a:solidFill>
          <a:ln/>
        </p:spPr>
      </p:sp>
      <p:sp>
        <p:nvSpPr>
          <p:cNvPr id="36" name="Shape 34"/>
          <p:cNvSpPr/>
          <p:nvPr/>
        </p:nvSpPr>
        <p:spPr>
          <a:xfrm>
            <a:off x="10332459" y="2377440"/>
            <a:ext cx="438912" cy="438912"/>
          </a:xfrm>
          <a:prstGeom prst="ellipse">
            <a:avLst/>
          </a:prstGeom>
          <a:solidFill>
            <a:srgbClr val="F2B01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332459" y="2377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0332459" y="3017520"/>
            <a:ext cx="12008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0332459" y="3401568"/>
            <a:ext cx="12008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confirmation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4709160"/>
            <a:ext cx="11094415" cy="1280160"/>
          </a:xfrm>
          <a:prstGeom prst="roundRect">
            <a:avLst>
              <a:gd name="adj" fmla="val 10000"/>
            </a:avLst>
          </a:prstGeom>
          <a:solidFill>
            <a:srgbClr val="235A4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440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USP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914400" y="5230368"/>
            <a:ext cx="10362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“Crop Recovery &amp; Sale Readiness” links what happened in the field with what to do after harvest.</a:t>
            </a:r>
            <a:endParaRPr lang="en-US" sz="1900" dirty="0"/>
          </a:p>
        </p:txBody>
      </p:sp>
      <p:sp>
        <p:nvSpPr>
          <p:cNvPr id="43" name="Text 41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it different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 is the connection between modules, not any single feature.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3969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13969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96596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→ decision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1965960"/>
            <a:ext cx="56537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is the entry point, not the destination.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78892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77240" y="296265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CEFC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296265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278892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→ readiness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2788920"/>
            <a:ext cx="56537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recovery plus crop maturity creates a sale-readiness window.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61188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78561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78561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361188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→ economics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611880"/>
            <a:ext cx="56537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price, storage and transport meet in one expected-net-return comparison.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7240" y="460857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FCEFC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77240" y="460857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443484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→ voice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5760720" y="4434840"/>
            <a:ext cx="56537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Telugu UI and voice playback reduce reading and navigation burden.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94415" cy="694944"/>
          </a:xfrm>
          <a:prstGeom prst="roundRect">
            <a:avLst>
              <a:gd name="adj" fmla="val 1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431536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CEEE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431536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5257800"/>
            <a:ext cx="3291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network → continuity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5760720" y="5257800"/>
            <a:ext cx="565373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detection and IndexedDB storage keep the app usable when connectivity drops.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EXPERIENCE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farmer journey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workflow rather than a collection of disconnected tools.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1945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482" y="23262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464994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1671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25603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take a photo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79394" y="19659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0562" y="21945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235" y="232623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295748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293794" y="21671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293794" y="25603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Disease, confidence, severity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10148" y="19659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11316" y="21945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989" y="2326234"/>
            <a:ext cx="285293" cy="28529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26501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7124548" y="21671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7124548" y="25603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guidance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9040901" y="19659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42069" y="21945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3743" y="2326234"/>
            <a:ext cx="285293" cy="28529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957255" y="21488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955301" y="21671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smart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9955301" y="25603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+ sale-ready window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35661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49808" y="37947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3926434"/>
            <a:ext cx="285293" cy="285293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2464994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463040" y="37673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1463040" y="41605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Markets, buyers, FPO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3379394" y="35661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3580562" y="37947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235" y="3926434"/>
            <a:ext cx="285293" cy="285293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5295748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4293794" y="37673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4293794" y="41605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+ logistics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6210148" y="35661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411316" y="3794760"/>
            <a:ext cx="548640" cy="54864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2989" y="3926434"/>
            <a:ext cx="285293" cy="285293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126501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5" name="Text 36"/>
          <p:cNvSpPr txBox="1"/>
          <p:nvPr/>
        </p:nvSpPr>
        <p:spPr>
          <a:xfrm>
            <a:off x="7124548" y="37673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46" name="Text 37"/>
          <p:cNvSpPr txBox="1"/>
          <p:nvPr/>
        </p:nvSpPr>
        <p:spPr>
          <a:xfrm>
            <a:off x="7124548" y="41605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net return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9040901" y="3566160"/>
            <a:ext cx="2602154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48" name="Shape 39"/>
          <p:cNvSpPr/>
          <p:nvPr/>
        </p:nvSpPr>
        <p:spPr>
          <a:xfrm>
            <a:off x="9242069" y="3794760"/>
            <a:ext cx="548640" cy="548640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4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3743" y="3926434"/>
            <a:ext cx="285293" cy="285293"/>
          </a:xfrm>
          <a:prstGeom prst="rect">
            <a:avLst/>
          </a:prstGeom>
        </p:spPr>
      </p:pic>
      <p:sp>
        <p:nvSpPr>
          <p:cNvPr id="50" name="Text 40"/>
          <p:cNvSpPr txBox="1"/>
          <p:nvPr/>
        </p:nvSpPr>
        <p:spPr>
          <a:xfrm>
            <a:off x="10957255" y="37490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1" name="Text 41"/>
          <p:cNvSpPr txBox="1"/>
          <p:nvPr/>
        </p:nvSpPr>
        <p:spPr>
          <a:xfrm>
            <a:off x="9955301" y="3767328"/>
            <a:ext cx="15048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</a:t>
            </a:r>
            <a:endParaRPr lang="en-US" sz="1800" dirty="0"/>
          </a:p>
        </p:txBody>
      </p:sp>
      <p:sp>
        <p:nvSpPr>
          <p:cNvPr id="52" name="Text 42"/>
          <p:cNvSpPr txBox="1"/>
          <p:nvPr/>
        </p:nvSpPr>
        <p:spPr>
          <a:xfrm>
            <a:off x="9955301" y="4160520"/>
            <a:ext cx="150487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confirmation</a:t>
            </a:r>
            <a:endParaRPr lang="en-US" sz="1300" dirty="0"/>
          </a:p>
        </p:txBody>
      </p:sp>
      <p:sp>
        <p:nvSpPr>
          <p:cNvPr id="53" name="Text 43"/>
          <p:cNvSpPr txBox="1"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E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farmer gives minimum input; the application keeps maximum context.</a:t>
            </a:r>
            <a:endParaRPr lang="en-US" sz="2000" dirty="0"/>
          </a:p>
        </p:txBody>
      </p:sp>
      <p:sp>
        <p:nvSpPr>
          <p:cNvPr id="54" name="Text 44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IMPLEMENTATION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AI/ML engine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trained model supplies the crop-health signal that drives every downstream decision.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488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272284"/>
            <a:ext cx="210312" cy="2103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17320" y="2148840"/>
            <a:ext cx="156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788920"/>
            <a:ext cx="2156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tomato classes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90824" y="1965960"/>
            <a:ext cx="256786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21488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68" y="227228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259504" y="2148840"/>
            <a:ext cx="156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2788920"/>
            <a:ext cx="2156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train set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images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16, Adam, LR 0.0001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33008" y="1965960"/>
            <a:ext cx="256786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21488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052" y="2272284"/>
            <a:ext cx="210312" cy="2103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01688" y="2148840"/>
            <a:ext cx="156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2788920"/>
            <a:ext cx="2156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Provided validation set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loss tracking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9075191" y="1965960"/>
            <a:ext cx="2567864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2148840"/>
            <a:ext cx="457200" cy="457200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235" y="2272284"/>
            <a:ext cx="210312" cy="2103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943871" y="2148840"/>
            <a:ext cx="1562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2788920"/>
            <a:ext cx="21563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→ severity heuristic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→ recovery</a:t>
            </a:r>
            <a:endParaRPr lang="en-US" sz="13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548640" y="425196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0E2A20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48640" y="43434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87.59%</a:t>
            </a:r>
            <a:endParaRPr lang="en-US" sz="38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1206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accuracy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3390824" y="425196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0E2A20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3390824" y="43434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98.32%</a:t>
            </a:r>
            <a:endParaRPr lang="en-US" sz="3800" dirty="0"/>
          </a:p>
        </p:txBody>
      </p:sp>
      <p:sp>
        <p:nvSpPr>
          <p:cNvPr id="30" name="Text 24"/>
          <p:cNvSpPr txBox="1"/>
          <p:nvPr/>
        </p:nvSpPr>
        <p:spPr>
          <a:xfrm>
            <a:off x="3390824" y="51206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PlantVillage validation accuracy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6233008" y="425196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0E2A20"/>
          </a:solidFill>
          <a:ln/>
        </p:spPr>
      </p:sp>
      <p:sp>
        <p:nvSpPr>
          <p:cNvPr id="32" name="Text 26"/>
          <p:cNvSpPr txBox="1"/>
          <p:nvPr/>
        </p:nvSpPr>
        <p:spPr>
          <a:xfrm>
            <a:off x="6233008" y="43434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0.0605</a:t>
            </a:r>
            <a:endParaRPr lang="en-US" sz="3800" dirty="0"/>
          </a:p>
        </p:txBody>
      </p:sp>
      <p:sp>
        <p:nvSpPr>
          <p:cNvPr id="33" name="Text 27"/>
          <p:cNvSpPr txBox="1"/>
          <p:nvPr/>
        </p:nvSpPr>
        <p:spPr>
          <a:xfrm>
            <a:off x="6233008" y="51206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9075191" y="4251960"/>
            <a:ext cx="2567864" cy="1371600"/>
          </a:xfrm>
          <a:prstGeom prst="roundRect">
            <a:avLst>
              <a:gd name="adj" fmla="val 9333"/>
            </a:avLst>
          </a:prstGeom>
          <a:solidFill>
            <a:srgbClr val="0E2A20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9075191" y="4343400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B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98.80%</a:t>
            </a:r>
            <a:endParaRPr lang="en-US" sz="3800" dirty="0"/>
          </a:p>
        </p:txBody>
      </p:sp>
      <p:sp>
        <p:nvSpPr>
          <p:cNvPr id="36" name="Text 30"/>
          <p:cNvSpPr txBox="1"/>
          <p:nvPr/>
        </p:nvSpPr>
        <p:spPr>
          <a:xfrm>
            <a:off x="9075191" y="512064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test-image confidence</a:t>
            </a:r>
            <a:endParaRPr lang="en-US" sz="1250" dirty="0"/>
          </a:p>
        </p:txBody>
      </p:sp>
      <p:sp>
        <p:nvSpPr>
          <p:cNvPr id="37" name="Text 31"/>
          <p:cNvSpPr txBox="1"/>
          <p:nvPr/>
        </p:nvSpPr>
        <p:spPr>
          <a:xfrm>
            <a:off x="548640" y="585216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B84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dataset-specific; field performance needs real smartphone and field validation.</a:t>
            </a:r>
            <a:endParaRPr lang="en-US" sz="1200" dirty="0"/>
          </a:p>
        </p:txBody>
      </p:sp>
      <p:sp>
        <p:nvSpPr>
          <p:cNvPr id="38" name="Text 32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ENGINE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value is the decision, not the prediction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diagnosis matters when it changes what the farmer does next.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332378" cy="2651760"/>
          </a:xfrm>
          <a:prstGeom prst="roundRect">
            <a:avLst>
              <a:gd name="adj" fmla="val 6897"/>
            </a:avLst>
          </a:prstGeom>
          <a:solidFill>
            <a:srgbClr val="17402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33172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SIGNAL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26922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Disease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</a:t>
            </a:r>
            <a:endParaRPr lang="en-US" sz="2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4754" y="3291840"/>
            <a:ext cx="201168" cy="20116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429658" y="2103120"/>
            <a:ext cx="3332378" cy="2651760"/>
          </a:xfrm>
          <a:prstGeom prst="roundRect">
            <a:avLst>
              <a:gd name="adj" fmla="val 6897"/>
            </a:avLst>
          </a:prstGeom>
          <a:solidFill>
            <a:srgbClr val="1740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749698" y="233172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SIGNAL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749698" y="2788920"/>
            <a:ext cx="26922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Treatment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Recovery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 readiness</a:t>
            </a:r>
            <a:endParaRPr lang="en-US" sz="2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5773" y="3291840"/>
            <a:ext cx="201168" cy="20116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310677" y="2103120"/>
            <a:ext cx="3332378" cy="2651760"/>
          </a:xfrm>
          <a:prstGeom prst="roundRect">
            <a:avLst>
              <a:gd name="adj" fmla="val 6897"/>
            </a:avLst>
          </a:prstGeom>
          <a:solidFill>
            <a:srgbClr val="17402F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630717" y="2331720"/>
            <a:ext cx="2692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SIGNAL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8630717" y="2788920"/>
            <a:ext cx="269229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Storage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Transport</a:t>
            </a:r>
            <a:endParaRPr lang="en-US" sz="2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return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548640" y="5074920"/>
            <a:ext cx="11094415" cy="960120"/>
          </a:xfrm>
          <a:prstGeom prst="roundRect">
            <a:avLst>
              <a:gd name="adj" fmla="val 13333"/>
            </a:avLst>
          </a:prstGeom>
          <a:solidFill>
            <a:srgbClr val="235A43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914400" y="507492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decision loop for the farmer:  protect the crop  →  protect its value.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as a farmer utility; monetize transactions and services as adoption grows.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56786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603504" cy="603504"/>
          </a:xfrm>
          <a:prstGeom prst="ellipse">
            <a:avLst/>
          </a:prstGeom>
          <a:solidFill>
            <a:srgbClr val="F2B0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2081" y="23394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farmer core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0156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Diagnosis, basic crop-health guidance, market discovery and voice-friendly access.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390824" y="1965960"/>
            <a:ext cx="256786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9424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265" y="233940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19424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layer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619424" y="340156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/ FPO lead generation, sale workflow and logistics coordination can carry service fees.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33008" y="1965960"/>
            <a:ext cx="256786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61608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6449" y="233940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61608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services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6461608" y="340156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demand, logistics and crop-intelligence dashboards for FPOs and buyers.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9075191" y="1965960"/>
            <a:ext cx="2567864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03791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632" y="2339401"/>
            <a:ext cx="313822" cy="31382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303791" y="297180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ecosystem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9303791" y="3401568"/>
            <a:ext cx="2110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transport, agri-input and advisory partners join through referrals or service agreements.</a:t>
            </a:r>
            <a:endParaRPr lang="en-US" sz="135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4846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LOGIC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548640" y="5230368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0E2A20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548640" y="5230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adoption</a:t>
            </a:r>
            <a:endParaRPr lang="en-US" sz="135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657" y="5413248"/>
            <a:ext cx="182880" cy="182880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2876474" y="5230368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0E2A20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2876474" y="5230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crop data</a:t>
            </a:r>
            <a:endParaRPr lang="en-US" sz="13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491" y="5413248"/>
            <a:ext cx="182880" cy="182880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5204308" y="5230368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0E2A20"/>
          </a:solidFill>
          <a:ln/>
        </p:spPr>
      </p:sp>
      <p:sp>
        <p:nvSpPr>
          <p:cNvPr id="33" name="Text 25"/>
          <p:cNvSpPr txBox="1"/>
          <p:nvPr/>
        </p:nvSpPr>
        <p:spPr>
          <a:xfrm>
            <a:off x="5204308" y="5230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transactions</a:t>
            </a:r>
            <a:endParaRPr lang="en-US" sz="13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8325" y="5413248"/>
            <a:ext cx="182880" cy="182880"/>
          </a:xfrm>
          <a:prstGeom prst="rect">
            <a:avLst/>
          </a:prstGeom>
        </p:spPr>
      </p:pic>
      <p:sp>
        <p:nvSpPr>
          <p:cNvPr id="35" name="Shape 26"/>
          <p:cNvSpPr/>
          <p:nvPr/>
        </p:nvSpPr>
        <p:spPr>
          <a:xfrm>
            <a:off x="7532141" y="5230368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0E2A20"/>
          </a:solidFill>
          <a:ln/>
        </p:spPr>
      </p:sp>
      <p:sp>
        <p:nvSpPr>
          <p:cNvPr id="36" name="Text 27"/>
          <p:cNvSpPr txBox="1"/>
          <p:nvPr/>
        </p:nvSpPr>
        <p:spPr>
          <a:xfrm>
            <a:off x="7532141" y="5230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services</a:t>
            </a:r>
            <a:endParaRPr lang="en-US" sz="135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6158" y="5413248"/>
            <a:ext cx="182880" cy="18288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859975" y="5230368"/>
            <a:ext cx="1783080" cy="548640"/>
          </a:xfrm>
          <a:prstGeom prst="roundRect">
            <a:avLst>
              <a:gd name="adj" fmla="val 50000"/>
            </a:avLst>
          </a:prstGeom>
          <a:solidFill>
            <a:srgbClr val="F2B01E"/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9859975" y="5230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</a:t>
            </a:r>
            <a:endParaRPr lang="en-US" sz="1350" dirty="0"/>
          </a:p>
        </p:txBody>
      </p:sp>
      <p:sp>
        <p:nvSpPr>
          <p:cNvPr id="40" name="Text 30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Feasibility, adoption and scale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crop well, prove the workflow, then widen crops and geography.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567864" cy="3108960"/>
          </a:xfrm>
          <a:prstGeom prst="roundRect">
            <a:avLst>
              <a:gd name="adj" fmla="val 7122"/>
            </a:avLst>
          </a:prstGeom>
          <a:solidFill>
            <a:srgbClr val="2E7D4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E2A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718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 pilot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65760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detection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/ readiness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+ sale flow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3080" y="3749040"/>
            <a:ext cx="201168" cy="20116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390824" y="2103120"/>
            <a:ext cx="2567864" cy="3108960"/>
          </a:xfrm>
          <a:prstGeom prst="roundRect">
            <a:avLst>
              <a:gd name="adj" fmla="val 7122"/>
            </a:avLst>
          </a:prstGeom>
          <a:solidFill>
            <a:srgbClr val="17402F"/>
          </a:solidFill>
          <a:ln/>
        </p:spPr>
      </p:sp>
      <p:sp>
        <p:nvSpPr>
          <p:cNvPr id="12" name="Shape 9"/>
          <p:cNvSpPr/>
          <p:nvPr/>
        </p:nvSpPr>
        <p:spPr>
          <a:xfrm>
            <a:off x="3665144" y="23774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65144" y="2377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C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665144" y="29718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validation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3665144" y="365760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images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Agronomist validation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/ storage feeds</a:t>
            </a:r>
            <a:endParaRPr lang="en-US" sz="14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264" y="3749040"/>
            <a:ext cx="201168" cy="20116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233008" y="2103120"/>
            <a:ext cx="2567864" cy="3108960"/>
          </a:xfrm>
          <a:prstGeom prst="roundRect">
            <a:avLst>
              <a:gd name="adj" fmla="val 7122"/>
            </a:avLst>
          </a:prstGeom>
          <a:solidFill>
            <a:srgbClr val="17402F"/>
          </a:solidFill>
          <a:ln/>
        </p:spPr>
      </p:sp>
      <p:sp>
        <p:nvSpPr>
          <p:cNvPr id="18" name="Shape 14"/>
          <p:cNvSpPr/>
          <p:nvPr/>
        </p:nvSpPr>
        <p:spPr>
          <a:xfrm>
            <a:off x="6507328" y="23774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507328" y="2377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C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6507328" y="29718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Multi-crop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6507328" y="365760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Chilli, paddy, cotton, maize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regional languages</a:t>
            </a:r>
            <a:endParaRPr lang="en-US" sz="14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447" y="3749040"/>
            <a:ext cx="201168" cy="20116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9075191" y="2103120"/>
            <a:ext cx="2567864" cy="3108960"/>
          </a:xfrm>
          <a:prstGeom prst="roundRect">
            <a:avLst>
              <a:gd name="adj" fmla="val 7122"/>
            </a:avLst>
          </a:prstGeom>
          <a:solidFill>
            <a:srgbClr val="17402F"/>
          </a:solidFill>
          <a:ln/>
        </p:spPr>
      </p:sp>
      <p:sp>
        <p:nvSpPr>
          <p:cNvPr id="24" name="Shape 19"/>
          <p:cNvSpPr/>
          <p:nvPr/>
        </p:nvSpPr>
        <p:spPr>
          <a:xfrm>
            <a:off x="9349511" y="2377440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235A43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9349511" y="2377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C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100" dirty="0"/>
          </a:p>
        </p:txBody>
      </p:sp>
      <p:sp>
        <p:nvSpPr>
          <p:cNvPr id="26" name="Text 21"/>
          <p:cNvSpPr txBox="1"/>
          <p:nvPr/>
        </p:nvSpPr>
        <p:spPr>
          <a:xfrm>
            <a:off x="9349511" y="2971800"/>
            <a:ext cx="2019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Ecosystem</a:t>
            </a:r>
            <a:endParaRPr lang="en-US" sz="2200" dirty="0"/>
          </a:p>
        </p:txBody>
      </p:sp>
      <p:sp>
        <p:nvSpPr>
          <p:cNvPr id="27" name="Text 22"/>
          <p:cNvSpPr txBox="1"/>
          <p:nvPr/>
        </p:nvSpPr>
        <p:spPr>
          <a:xfrm>
            <a:off x="9349511" y="3657600"/>
            <a:ext cx="20649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FPOs, buyers, storage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+ advisory partners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now, why this team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447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full-stack engineering and farmer-centred UX in one operational workflow.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15258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339401"/>
            <a:ext cx="313822" cy="31382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2971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fit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Vite frontend, Spring Boot / JPA backend, MySQL / H2, FastAPI AI service, PyTorch / torchvision pipeline.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338218" y="1965960"/>
            <a:ext cx="3515258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2538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379" y="2339401"/>
            <a:ext cx="313822" cy="31382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2538" y="2971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fit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12538" y="342900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/ Telugu localization, speech playback, mobile-first upload flow, offline state and IndexedDB persistence.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127797" y="1965960"/>
            <a:ext cx="3515258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02117" y="2194560"/>
            <a:ext cx="603504" cy="603504"/>
          </a:xfrm>
          <a:prstGeom prst="ellipse">
            <a:avLst/>
          </a:prstGeom>
          <a:solidFill>
            <a:srgbClr val="2E7D4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958" y="2339401"/>
            <a:ext cx="313822" cy="31382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402117" y="29718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fit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02117" y="3429000"/>
            <a:ext cx="296661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7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crop record flows from diagnosis to treatment, market comparison, storage, logistics, profit estimate and sale.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48640" y="4983480"/>
            <a:ext cx="11094415" cy="1143000"/>
          </a:xfrm>
          <a:prstGeom prst="roundRect">
            <a:avLst>
              <a:gd name="adj" fmla="val 11200"/>
            </a:avLst>
          </a:prstGeom>
          <a:solidFill>
            <a:srgbClr val="0E2A20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1005840" y="4983480"/>
            <a:ext cx="10180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farmer should not have to learn the app. The app should understand the farmer’s crop journey.”</a:t>
            </a:r>
            <a:endParaRPr lang="en-US" sz="2000" dirty="0"/>
          </a:p>
        </p:txBody>
      </p:sp>
      <p:sp>
        <p:nvSpPr>
          <p:cNvPr id="22" name="Text 17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crop.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6CC2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 the value.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6CC2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— Crop-to-Cash AI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89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D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diagnosis → recovery → market → logistics → expected net return → sale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5394960"/>
            <a:ext cx="182880" cy="1828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1168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01168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539496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47472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47472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</a:t>
            </a:r>
            <a:endParaRPr lang="en-US" sz="14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5394960"/>
            <a:ext cx="182880" cy="18288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493776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93776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4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5394960"/>
            <a:ext cx="182880" cy="1828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0080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40080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5394960"/>
            <a:ext cx="182880" cy="18288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86384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786384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0" y="5394960"/>
            <a:ext cx="182880" cy="182880"/>
          </a:xfrm>
          <a:prstGeom prst="rect">
            <a:avLst/>
          </a:prstGeom>
        </p:spPr>
      </p:pic>
      <p:sp>
        <p:nvSpPr>
          <p:cNvPr id="24" name="Shape 16"/>
          <p:cNvSpPr/>
          <p:nvPr/>
        </p:nvSpPr>
        <p:spPr>
          <a:xfrm>
            <a:off x="9326880" y="52578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17402F"/>
          </a:solidFill>
          <a:ln/>
        </p:spPr>
      </p:sp>
      <p:sp>
        <p:nvSpPr>
          <p:cNvPr id="25" name="Text 17"/>
          <p:cNvSpPr txBox="1"/>
          <p:nvPr/>
        </p:nvSpPr>
        <p:spPr>
          <a:xfrm>
            <a:off x="9326880" y="5257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</a:t>
            </a:r>
            <a:endParaRPr lang="en-US" sz="1400" dirty="0"/>
          </a:p>
        </p:txBody>
      </p:sp>
      <p:sp>
        <p:nvSpPr>
          <p:cNvPr id="26" name="Text 18"/>
          <p:cNvSpPr txBox="1"/>
          <p:nvPr/>
        </p:nvSpPr>
        <p:spPr>
          <a:xfrm>
            <a:off x="548640" y="64008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AGRIGUARD  ·  BUSINESS PITCH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1072865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8FB0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AgriGuard — Business Pitch Deck</dc:title>
  <dc:subject>PptxGenJS Presentation</dc:subject>
  <dc:creator>AgriGuard</dc:creator>
  <cp:lastModifiedBy>AgriGuard</cp:lastModifiedBy>
  <cp:revision>1</cp:revision>
  <dcterms:created xsi:type="dcterms:W3CDTF">2026-09-19T16:37:35Z</dcterms:created>
  <dcterms:modified xsi:type="dcterms:W3CDTF">2026-09-19T16:37:35Z</dcterms:modified>
</cp:coreProperties>
</file>